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9"/>
  </p:notes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629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:notes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/>
          </a:p>
        </p:txBody>
      </p:sp>
      <p:sp>
        <p:nvSpPr>
          <p:cNvPr id="684" name="Google Shape;684;p1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 Dept., SET-Jain University</a:t>
            </a:r>
            <a:endParaRPr/>
          </a:p>
        </p:txBody>
      </p:sp>
      <p:sp>
        <p:nvSpPr>
          <p:cNvPr id="685" name="Google Shape;685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sp>
        <p:nvSpPr>
          <p:cNvPr id="686" name="Google Shape;6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7" name="Google Shape;6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246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34F0-8565-188E-DCCB-E807FBD00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B131D-8E20-7690-05B0-AEB7875E5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610D3-95AF-9C6B-0A7B-3432ECB4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C13E2-8A96-479F-B2F1-006C1C89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3C45A-9B51-567D-DCAF-AA1F5E18D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633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ECA3-6F63-61DA-86B3-6E345CF08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B9CD0-2E1D-4245-B2EB-62C8E449F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02525-0D5C-D6C9-FC3C-DD254AAB4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A9080-EBC2-B592-94F1-C0DE610F9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3BF9F-02D6-9954-E729-C9337B104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8460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8921-884B-F631-3F0D-F9548F78A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7AD2C-DBDB-91B9-1EA8-A624B86A8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5081F-09ED-A6F2-EA6E-4D83AA52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03AB9-A710-BA42-78E1-769112AF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D52D-CEE5-9EFA-B8F2-068083B8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9450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EE3CD-1CCC-E31E-940D-A56B7940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48A0F-85DB-ADF4-EC0A-D536D9235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47CD6-1E74-24B5-2D66-50AB85D27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EC7C8-D881-411E-43AD-47BF887B1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29EBA-C989-113D-0A52-D2D82D58C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982AF-86C4-DC5D-0043-690F2160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8029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33E3-074B-7F51-0F35-17769543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507E1-E3F6-4124-CD8D-D62C52D07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BBAB9-C3FE-00DA-458B-A951B29A0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0E60A-7952-F8C4-BD18-C62D0BCBD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E1BC71-B8A7-7EC7-506A-9BF2766635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8EFC36-32E1-C707-A265-E392548AD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8F9A66-DAFD-41C3-1108-E0111969A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95967F-9F35-73F4-8B0B-DE674227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5553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32013-297A-15D1-5972-3D60E9BF6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F46E98-7213-347E-2D8D-92D26D122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555C1-C444-189D-BD4D-4F98D6142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6331D-E705-8188-CFDA-7E5ADD34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3688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5CC73-7144-311E-1B1F-C42E34A62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5D1FA-623A-5D77-83E5-8DE15BFB4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32389-046A-A223-DF08-4759A701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9788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1667-F17E-B75C-64F6-5AEBCEEB9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3DAA8-433A-94A0-C87D-486B835F8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87760-E90D-F0E0-ED81-5DB9278FC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A48F0-1A8C-F231-6A9B-84229FC37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19678-0970-D8C1-7924-49440AC8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86526-8BF6-AB14-2775-AE7F0F91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7793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5B32C-215F-E56F-0FF9-15041F7A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EC110-FC2C-78B4-7291-613D4F17D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0CB4B-D461-C838-6CF6-300D2849D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70B00-DE71-61F3-E469-72C18C37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D0DBE-6904-4DF9-7611-81AB388AA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628C8-CB1C-A8EB-F454-FF653B785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81735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D3C03-FF95-8AE7-BF5C-6C3335E2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FA35A-6CCF-6CF4-388D-565E6C6BE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8402-05A3-FC19-F333-37E6FC30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6B0D9-27D9-F4CC-25DB-434EA24A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4F189-9123-880E-EB83-D354F979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6795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36B1E9-23B7-8E96-E473-0E0C61736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3D95E6-29CA-6D99-61F2-08B8055EC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BFA95-DA8B-FAED-3471-9C7B4C814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C55C5-770D-D899-A7AB-B5C6E8B2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53643-0966-745D-CC11-8496F0AA5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71867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314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D380FC-F5F7-E6FD-B205-DC41E143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C8CB1-AA2C-5A67-2D66-917A6B293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D24D5-BC4C-C104-B15E-EA1CAFB9B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E2DF1-7306-4335-1544-405529063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DDCA0-9388-8364-3AE6-2B6076DA1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839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10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patrec.2021.05.022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4"/>
          <p:cNvSpPr txBox="1"/>
          <p:nvPr/>
        </p:nvSpPr>
        <p:spPr>
          <a:xfrm>
            <a:off x="1920649" y="508992"/>
            <a:ext cx="5302703" cy="6441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buClr>
                <a:srgbClr val="0070C0"/>
              </a:buClr>
              <a:buSzPts val="2400"/>
            </a:pPr>
            <a:r>
              <a:rPr lang="en-US" sz="1500" b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DAYANANDA SAGAR UNIVERSITY</a:t>
            </a:r>
            <a:endParaRPr lang="en-US" sz="900" dirty="0"/>
          </a:p>
          <a:p>
            <a:pPr algn="ctr">
              <a:spcBef>
                <a:spcPts val="300"/>
              </a:spcBef>
              <a:buClr>
                <a:srgbClr val="0E5672"/>
              </a:buClr>
              <a:buSzPts val="2000"/>
            </a:pPr>
            <a:r>
              <a:rPr lang="en-US" sz="1350" b="1" dirty="0">
                <a:solidFill>
                  <a:srgbClr val="0E5672"/>
                </a:solidFill>
                <a:latin typeface="Cambria"/>
                <a:ea typeface="Cambria"/>
                <a:cs typeface="Cambria"/>
                <a:sym typeface="Cambria"/>
              </a:rPr>
              <a:t>SCHOOL OF ENGINEERING</a:t>
            </a:r>
            <a:endParaRPr sz="900" dirty="0"/>
          </a:p>
        </p:txBody>
      </p:sp>
      <p:sp>
        <p:nvSpPr>
          <p:cNvPr id="690" name="Google Shape;690;p34"/>
          <p:cNvSpPr txBox="1">
            <a:spLocks noGrp="1"/>
          </p:cNvSpPr>
          <p:nvPr>
            <p:ph type="subTitle" idx="1"/>
          </p:nvPr>
        </p:nvSpPr>
        <p:spPr>
          <a:xfrm>
            <a:off x="1800225" y="2084784"/>
            <a:ext cx="5829300" cy="54887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100" b="1" dirty="0">
                <a:solidFill>
                  <a:schemeClr val="tx2"/>
                </a:solidFill>
                <a:latin typeface="Calibri"/>
                <a:ea typeface="Calibri"/>
                <a:cs typeface="Calibri"/>
                <a:sym typeface="Calibri"/>
              </a:rPr>
              <a:t>AI BASED CLOUD </a:t>
            </a: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240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800"/>
            </a:pPr>
            <a:endParaRPr dirty="0"/>
          </a:p>
        </p:txBody>
      </p:sp>
      <p:sp>
        <p:nvSpPr>
          <p:cNvPr id="691" name="Google Shape;691;p34"/>
          <p:cNvSpPr txBox="1"/>
          <p:nvPr/>
        </p:nvSpPr>
        <p:spPr>
          <a:xfrm>
            <a:off x="3086100" y="3829050"/>
            <a:ext cx="2971800" cy="131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13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Presented By:</a:t>
            </a:r>
            <a:endParaRPr sz="1350" dirty="0"/>
          </a:p>
          <a:p>
            <a:pPr>
              <a:buClr>
                <a:schemeClr val="dk1"/>
              </a:buClr>
              <a:buSzPts val="1800"/>
            </a:pPr>
            <a:r>
              <a:rPr lang="en-US" sz="13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Abhiram V P           ENG23CS0004</a:t>
            </a:r>
            <a:endParaRPr sz="1350" dirty="0"/>
          </a:p>
          <a:p>
            <a:pPr>
              <a:buClr>
                <a:schemeClr val="dk1"/>
              </a:buClr>
              <a:buSzPts val="1800"/>
            </a:pPr>
            <a:r>
              <a:rPr lang="en-US" sz="1350" b="1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Dharshan S P         ENG23CS0061</a:t>
            </a:r>
            <a:endParaRPr sz="1350" dirty="0"/>
          </a:p>
          <a:p>
            <a:pPr>
              <a:buClr>
                <a:schemeClr val="dk1"/>
              </a:buClr>
              <a:buSzPts val="1800"/>
            </a:pPr>
            <a:r>
              <a:rPr lang="en-US" sz="1350" b="1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Abhishek J P          ENG23CS0006</a:t>
            </a:r>
          </a:p>
          <a:p>
            <a:pPr>
              <a:buClr>
                <a:schemeClr val="dk1"/>
              </a:buClr>
              <a:buSzPts val="1800"/>
            </a:pPr>
            <a:r>
              <a:rPr lang="en-US" sz="1350" b="1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 Goutam Kumar   ENG23CS0001</a:t>
            </a:r>
            <a:endParaRPr sz="1350" dirty="0"/>
          </a:p>
          <a:p>
            <a:endParaRPr sz="135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4"/>
          <p:cNvSpPr txBox="1"/>
          <p:nvPr/>
        </p:nvSpPr>
        <p:spPr>
          <a:xfrm>
            <a:off x="2357438" y="1563291"/>
            <a:ext cx="442912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70C0"/>
              </a:buClr>
              <a:buSzPts val="2400"/>
            </a:pP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Minor project Review 1</a:t>
            </a:r>
            <a:endParaRPr sz="1350" dirty="0"/>
          </a:p>
        </p:txBody>
      </p:sp>
      <p:sp>
        <p:nvSpPr>
          <p:cNvPr id="694" name="Google Shape;694;p34"/>
          <p:cNvSpPr txBox="1"/>
          <p:nvPr/>
        </p:nvSpPr>
        <p:spPr>
          <a:xfrm>
            <a:off x="1535627" y="985837"/>
            <a:ext cx="6572250" cy="548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buClr>
                <a:srgbClr val="0D0D47"/>
              </a:buClr>
              <a:buSzPts val="2800"/>
            </a:pPr>
            <a:r>
              <a:rPr lang="en-US" b="1" dirty="0">
                <a:solidFill>
                  <a:srgbClr val="0D0D47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sz="900" dirty="0"/>
          </a:p>
        </p:txBody>
      </p:sp>
      <p:sp>
        <p:nvSpPr>
          <p:cNvPr id="695" name="Google Shape;695;p34"/>
          <p:cNvSpPr txBox="1"/>
          <p:nvPr/>
        </p:nvSpPr>
        <p:spPr>
          <a:xfrm>
            <a:off x="2500313" y="2915840"/>
            <a:ext cx="4429125" cy="761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3217"/>
              </a:buClr>
              <a:buSzPts val="2000"/>
            </a:pPr>
            <a:r>
              <a:rPr lang="en-US" sz="1500" b="1" dirty="0">
                <a:solidFill>
                  <a:srgbClr val="003217"/>
                </a:solidFill>
                <a:latin typeface="Calibri"/>
                <a:ea typeface="Calibri"/>
                <a:cs typeface="Calibri"/>
                <a:sym typeface="Calibri"/>
              </a:rPr>
              <a:t>Under the Supervision</a:t>
            </a:r>
            <a:endParaRPr lang="en-IN" sz="1350" dirty="0"/>
          </a:p>
          <a:p>
            <a:pPr algn="ctr">
              <a:buClr>
                <a:srgbClr val="003217"/>
              </a:buClr>
              <a:buSzPts val="2000"/>
            </a:pPr>
            <a:r>
              <a:rPr lang="en-US" sz="1500" b="1" dirty="0">
                <a:solidFill>
                  <a:srgbClr val="00321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500" b="1" dirty="0">
                <a:solidFill>
                  <a:srgbClr val="003217"/>
                </a:solidFill>
                <a:latin typeface="Calibri"/>
                <a:ea typeface="Calibri"/>
                <a:cs typeface="Calibri"/>
                <a:sym typeface="Calibri"/>
              </a:rPr>
              <a:t>Prof. Mayank Kumar  </a:t>
            </a:r>
            <a:endParaRPr lang="en-IN" sz="1350" dirty="0"/>
          </a:p>
          <a:p>
            <a:pPr algn="ctr">
              <a:buClr>
                <a:srgbClr val="003217"/>
              </a:buClr>
              <a:buSzPts val="2000"/>
            </a:pPr>
            <a:r>
              <a:rPr lang="en-US" sz="1500" b="1" dirty="0">
                <a:solidFill>
                  <a:srgbClr val="003217"/>
                </a:solidFill>
                <a:latin typeface="Calibri"/>
                <a:ea typeface="Calibri"/>
                <a:cs typeface="Calibri"/>
                <a:sym typeface="Calibri"/>
              </a:rPr>
              <a:t>Dept of computer science </a:t>
            </a:r>
            <a:endParaRPr sz="1350" dirty="0"/>
          </a:p>
        </p:txBody>
      </p:sp>
      <p:sp>
        <p:nvSpPr>
          <p:cNvPr id="696" name="Google Shape;696;p34"/>
          <p:cNvSpPr txBox="1"/>
          <p:nvPr/>
        </p:nvSpPr>
        <p:spPr>
          <a:xfrm>
            <a:off x="1460897" y="3396853"/>
            <a:ext cx="438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buClr>
                <a:srgbClr val="FEFFFF"/>
              </a:buClr>
              <a:buSzPts val="2000"/>
            </a:pPr>
            <a:fld id="{00000000-1234-1234-1234-123412341234}" type="slidenum">
              <a:rPr lang="en-US" sz="1500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pPr algn="r">
                <a:buClr>
                  <a:srgbClr val="FEFFFF"/>
                </a:buClr>
                <a:buSzPts val="2000"/>
              </a:pPr>
              <a:t>1</a:t>
            </a:fld>
            <a:endParaRPr sz="135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F3618D-034D-19D6-89B4-3D3A502187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156" y="183106"/>
            <a:ext cx="1678984" cy="806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0C2886C-3DE8-E490-7780-D1F126166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26" y="273351"/>
            <a:ext cx="1426421" cy="471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58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274320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430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024128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822960"/>
            <a:ext cx="274320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154680" y="82296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1430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1024128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822960"/>
            <a:ext cx="274320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6126480" y="82296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1430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1024128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82880" y="2176272"/>
            <a:ext cx="274320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182880" y="2176272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" y="2496312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237744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154680" y="2176272"/>
            <a:ext cx="274320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3154680" y="2176272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08" y="2496312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49040" y="237744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126480" y="2176272"/>
            <a:ext cx="274320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6126480" y="2176272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2496312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20840" y="237744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182880" y="3529584"/>
            <a:ext cx="274320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182880" y="3529584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608" y="3849624"/>
            <a:ext cx="411480" cy="4114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77240" y="3730752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3154680" y="3529584"/>
            <a:ext cx="274320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5"/>
          <p:cNvSpPr/>
          <p:nvPr/>
        </p:nvSpPr>
        <p:spPr>
          <a:xfrm>
            <a:off x="3154680" y="3529584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4408" y="3849624"/>
            <a:ext cx="411480" cy="4114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749040" y="3730752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Methodology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6126480" y="3529584"/>
            <a:ext cx="274320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28"/>
          <p:cNvSpPr/>
          <p:nvPr/>
        </p:nvSpPr>
        <p:spPr>
          <a:xfrm>
            <a:off x="6126480" y="3529584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6208" y="3849624"/>
            <a:ext cx="411480" cy="4114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720840" y="3730752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1" name="Shape 3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5394960" cy="3749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54864" cy="3749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an AI-Based Cloud Monitoring System designed to automate real-time monitoring of system performance. The system collects CPU and memory metrics using psutil and analyzes them using a hybrid AIOps approach combining local machine learning (Isolation Forest) and cloud-based AI (Gemini API).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detects anomalies and provides intelligent explanations along with automated email alerts. A modern web dashboard visualizes system behavior through real-time graphs and interactive UI elements.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solution improves efficiency, reduces manual monitoring effort, and enables faster fault detection, making it suitable for cloud and DevOps environments.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822960"/>
            <a:ext cx="3154680" cy="82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852160" y="1005840"/>
            <a:ext cx="457200" cy="45720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024128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822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06440" y="1755648"/>
            <a:ext cx="3154680" cy="82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852160" y="1938528"/>
            <a:ext cx="457200" cy="45720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56816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00800" y="17556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806440" y="2688336"/>
            <a:ext cx="3154680" cy="82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852160" y="2871216"/>
            <a:ext cx="457200" cy="45720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2889504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68833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806440" y="3621024"/>
            <a:ext cx="3154680" cy="82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5852160" y="3803904"/>
            <a:ext cx="457200" cy="45720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3822192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00800" y="362102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06240" cy="1920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54864" cy="192024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applications generate massive volumes of performance data requiring continuous monitoring. Manual monitoring is inefficient and prone to delays.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administrators face difficulty in identifying abnormal system behavior in real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206240" cy="1920240"/>
          </a:xfrm>
          <a:prstGeom prst="rect">
            <a:avLst/>
          </a:prstGeom>
          <a:solidFill>
            <a:srgbClr val="F0F5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54864" cy="1920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AI-based monitoring system using machine learning and cloud AI APIs to automatically detect anomalies and provide intelligent, real-time alerts.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2926080"/>
            <a:ext cx="2057400" cy="15544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82880" y="30175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2880" y="37490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Reduced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95728" y="2926080"/>
            <a:ext cx="2057400" cy="15544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395728" y="30175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395728" y="37490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08576" y="2926080"/>
            <a:ext cx="2057400" cy="15544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08576" y="30175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08576" y="37490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Monitoring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21424" y="2926080"/>
            <a:ext cx="2057400" cy="15544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21424" y="30175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21424" y="37490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160520" cy="18288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/ threshold-based monitoring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Delayed fault detection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91109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intelligent analysis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224942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 operational overhead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777240"/>
            <a:ext cx="4160520" cy="18288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92040" y="841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AI-DRIVEN APPROACH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2344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AI-driven anomaly detection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0" y="157276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system monitoring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191109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 alert generation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224942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Interactive web dashboard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" y="2788920"/>
            <a:ext cx="4160520" cy="17830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82880" y="2788920"/>
            <a:ext cx="54864" cy="1783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28529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system monitoring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502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AI-based anomaly 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 generation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105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dashboard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788920"/>
            <a:ext cx="4160520" cy="17830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00600" y="2788920"/>
            <a:ext cx="54864" cy="1783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83480" y="28529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runs locally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502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Internet available for Gemini 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Sufficient CPU/Memory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ENVIRONMENTAL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425196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640080" cy="64008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System Downtime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600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anomaly detection minimizes disruption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425196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846320" y="1371600"/>
            <a:ext cx="640080" cy="64008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716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Infrastructure Efficiency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623560" y="1600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cloud resource usage intelligently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82880" y="2788920"/>
            <a:ext cx="425196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320040" y="3291840"/>
            <a:ext cx="640080" cy="640080"/>
          </a:xfrm>
          <a:prstGeom prst="ellipse">
            <a:avLst/>
          </a:prstGeom>
          <a:solidFill>
            <a:srgbClr val="F4A261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29184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DevOps Automation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97280" y="3520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CI/CD pipelines for auto operations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2788920"/>
            <a:ext cx="425196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846320" y="3291840"/>
            <a:ext cx="640080" cy="64008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91840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Energy Waste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23560" y="3520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inefficient usage, reducing carbon waste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 — LITERATURE SURVEY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777240"/>
            <a:ext cx="8869680" cy="411480"/>
          </a:xfrm>
          <a:prstGeom prst="rect">
            <a:avLst/>
          </a:prstGeom>
          <a:solidFill>
            <a:srgbClr val="0E6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777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/ Paper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7772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777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777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7772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" y="1234440"/>
            <a:ext cx="886968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8600" y="1234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Cloud Monitoring. </a:t>
            </a:r>
          </a:p>
          <a:p>
            <a:r>
              <a:rPr lang="en-IN" sz="1100" dirty="0">
                <a:solidFill>
                  <a:srgbClr val="1A1A2E"/>
                </a:solidFill>
              </a:rPr>
              <a:t>Praveen Kumar Thota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03120" y="12344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12344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2344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12344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improves monitoring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" y="1892808"/>
            <a:ext cx="8869680" cy="594360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28600" y="189280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A1A2E"/>
                </a:solidFill>
              </a:rPr>
              <a:t>Generalized isolation forest for anomaly detection.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189280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97480" y="189280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189280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1A1A2E"/>
                </a:solidFill>
              </a:rPr>
              <a:t>Pattern</a:t>
            </a:r>
            <a:r>
              <a:rPr lang="en-IN" sz="1150" dirty="0">
                <a:solidFill>
                  <a:srgbClr val="1A1A2E"/>
                </a:solidFill>
              </a:rPr>
              <a:t> </a:t>
            </a:r>
            <a:r>
              <a:rPr lang="en-IN" sz="1100" dirty="0">
                <a:solidFill>
                  <a:srgbClr val="1A1A2E"/>
                </a:solidFill>
              </a:rPr>
              <a:t>Recognition</a:t>
            </a:r>
          </a:p>
        </p:txBody>
      </p:sp>
      <p:sp>
        <p:nvSpPr>
          <p:cNvPr id="22" name="Text 20"/>
          <p:cNvSpPr/>
          <p:nvPr/>
        </p:nvSpPr>
        <p:spPr>
          <a:xfrm>
            <a:off x="6080760" y="189280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1A1A2E"/>
                </a:solidFill>
              </a:rPr>
              <a:t>Anomaly Detection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37160" y="2551176"/>
            <a:ext cx="886968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28600" y="255117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 Systems Smith et al.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255117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255117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255117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2551176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is essential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7160" y="3209544"/>
            <a:ext cx="8869680" cy="594360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28600" y="320954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Systems for DevOps Automation. </a:t>
            </a:r>
          </a:p>
          <a:p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et al.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320954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97480" y="320954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0" y="320954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320954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enhances DevOps workflows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8600" y="386791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03120" y="386791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97480" y="386791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89120" y="386791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80760" y="386791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274320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594360" cy="59436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005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CPU &amp; Memory Monitoring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1554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collection via psutil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54680" y="822960"/>
            <a:ext cx="274320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154680" y="82296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291840" y="1097280"/>
            <a:ext cx="594360" cy="59436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09728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95928" y="1005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Anomaly Detection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995928" y="1554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Gemini API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822960"/>
            <a:ext cx="274320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126480" y="82296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263640" y="1097280"/>
            <a:ext cx="594360" cy="59436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097280"/>
            <a:ext cx="594360" cy="5943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67728" y="1005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967728" y="1554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or Gemini Cloud mode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182880" y="2743200"/>
            <a:ext cx="274320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82880" y="274320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20040" y="3017520"/>
            <a:ext cx="594360" cy="59436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017520"/>
            <a:ext cx="594360" cy="5943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24128" y="2926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 Generation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024128" y="3474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SMTP notifications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154680" y="2743200"/>
            <a:ext cx="274320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154680" y="274320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3291840" y="3017520"/>
            <a:ext cx="594360" cy="59436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017520"/>
            <a:ext cx="594360" cy="5943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95928" y="2926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Visualization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995928" y="3474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interactive charts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26480" y="2743200"/>
            <a:ext cx="274320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6126480" y="274320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0"/>
          <p:cNvSpPr/>
          <p:nvPr/>
        </p:nvSpPr>
        <p:spPr>
          <a:xfrm>
            <a:off x="6263640" y="3017520"/>
            <a:ext cx="594360" cy="59436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017520"/>
            <a:ext cx="594360" cy="5943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67728" y="2926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Tracking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967728" y="3474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event &amp; anomaly logs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8838028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961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822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08960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response, low CPU overhead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89320" y="1024128"/>
            <a:ext cx="2743200" cy="164592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989320" y="1024128"/>
            <a:ext cx="2468880" cy="1645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778240" y="8229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2880" y="1490472"/>
            <a:ext cx="8838028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56362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14904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108960" y="149047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anomaly detection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89320" y="1691640"/>
            <a:ext cx="2743200" cy="164592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989320" y="1691640"/>
            <a:ext cx="2414016" cy="1645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8778240" y="149047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42668" y="2135124"/>
            <a:ext cx="877824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2231136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21579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108960" y="215798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to multi-system monitoring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989320" y="2359152"/>
            <a:ext cx="2743200" cy="164592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5989320" y="2359152"/>
            <a:ext cx="2194560" cy="1645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8778240" y="21579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182880" y="2825496"/>
            <a:ext cx="8838028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2898648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7240" y="282549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3108960" y="282549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 uptime with error handling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989320" y="3026664"/>
            <a:ext cx="2743200" cy="164592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5989320" y="3026664"/>
            <a:ext cx="2606040" cy="1645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/>
          <p:nvPr/>
        </p:nvSpPr>
        <p:spPr>
          <a:xfrm>
            <a:off x="8778240" y="282549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182880" y="3493008"/>
            <a:ext cx="8838028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" y="3566160"/>
            <a:ext cx="402336" cy="40233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77240" y="34930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3108960" y="34930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protection &amp; secure handling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5989320" y="3694176"/>
            <a:ext cx="2743200" cy="164592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1"/>
          <p:cNvSpPr/>
          <p:nvPr/>
        </p:nvSpPr>
        <p:spPr>
          <a:xfrm>
            <a:off x="5989320" y="3694176"/>
            <a:ext cx="2331720" cy="1645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2"/>
          <p:cNvSpPr/>
          <p:nvPr/>
        </p:nvSpPr>
        <p:spPr>
          <a:xfrm>
            <a:off x="8778240" y="349300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182880" y="4160520"/>
            <a:ext cx="8838028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" y="4233672"/>
            <a:ext cx="402336" cy="40233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7724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3108960" y="4160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 with clear visualizations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5989320" y="4361688"/>
            <a:ext cx="2743200" cy="164592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37"/>
          <p:cNvSpPr/>
          <p:nvPr/>
        </p:nvSpPr>
        <p:spPr>
          <a:xfrm>
            <a:off x="5989320" y="4361688"/>
            <a:ext cx="2523744" cy="1645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38"/>
          <p:cNvSpPr/>
          <p:nvPr/>
        </p:nvSpPr>
        <p:spPr>
          <a:xfrm>
            <a:off x="8778240" y="4160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06240" cy="3749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54864" cy="37490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SOFTWARE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4475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371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8600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94767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1874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28600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&amp; APIs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45059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7240" y="2377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286000" y="2377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visualization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95351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2880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286000" y="2880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reasoning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3456432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228600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ML anomaly detection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959352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77240" y="3886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2286000" y="3886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metrics collection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754880" y="822960"/>
            <a:ext cx="4206240" cy="3749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19"/>
          <p:cNvSpPr/>
          <p:nvPr/>
        </p:nvSpPr>
        <p:spPr>
          <a:xfrm>
            <a:off x="4754880" y="822960"/>
            <a:ext cx="54864" cy="3749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0"/>
          <p:cNvSpPr/>
          <p:nvPr/>
        </p:nvSpPr>
        <p:spPr>
          <a:xfrm>
            <a:off x="49377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HARDWARE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4892040" y="1371600"/>
            <a:ext cx="3931920" cy="56692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048" y="1463040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440680" y="137160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RAM (min)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7040880" y="13716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recommended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4892040" y="2057400"/>
            <a:ext cx="3931920" cy="56692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148840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440680" y="205740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7040880" y="20574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Gemini API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4892040" y="2743200"/>
            <a:ext cx="3931920" cy="56692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6048" y="2834640"/>
            <a:ext cx="384048" cy="38404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440680" y="274320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7040880" y="27432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or better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4892040" y="3429000"/>
            <a:ext cx="3931920" cy="56692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3520440"/>
            <a:ext cx="384048" cy="38404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440680" y="342900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7040880" y="34290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for logs/models</a:t>
            </a:r>
            <a:endParaRPr lang="en-US" sz="1050" dirty="0"/>
          </a:p>
        </p:txBody>
      </p:sp>
      <p:sp>
        <p:nvSpPr>
          <p:cNvPr id="45" name="Shape 3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3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— 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749808"/>
            <a:ext cx="5852160" cy="53035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645920" y="749808"/>
            <a:ext cx="54864" cy="5303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813816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74980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40680" y="7498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 / Chart.js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35424" y="1280160"/>
            <a:ext cx="64008" cy="1097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645920" y="1389888"/>
            <a:ext cx="5852160" cy="53035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645920" y="1389888"/>
            <a:ext cx="54864" cy="530352"/>
          </a:xfrm>
          <a:prstGeom prst="rect">
            <a:avLst/>
          </a:prstGeom>
          <a:solidFill>
            <a:srgbClr val="0E6B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1453896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40280" y="138988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40680" y="138988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35424" y="1920240"/>
            <a:ext cx="64008" cy="109728"/>
          </a:xfrm>
          <a:prstGeom prst="rect">
            <a:avLst/>
          </a:prstGeom>
          <a:solidFill>
            <a:srgbClr val="0E6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1645920" y="2029968"/>
            <a:ext cx="5852160" cy="53035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1645920" y="2029968"/>
            <a:ext cx="54864" cy="530352"/>
          </a:xfrm>
          <a:prstGeom prst="rect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2093976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40280" y="202996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Monitoring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440680" y="20299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&amp; Memory Metrics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35424" y="2560320"/>
            <a:ext cx="64008" cy="109728"/>
          </a:xfrm>
          <a:prstGeom prst="rect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1645920" y="2670048"/>
            <a:ext cx="5852160" cy="53035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45920" y="2670048"/>
            <a:ext cx="54864" cy="5303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" y="2734056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240280" y="267004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40680" y="267004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/ Gemini API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35424" y="3200400"/>
            <a:ext cx="64008" cy="1097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1645920" y="3310128"/>
            <a:ext cx="5852160" cy="53035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1645920" y="3310128"/>
            <a:ext cx="54864" cy="5303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0" y="3374136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240280" y="331012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440680" y="33101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Email Notifications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535424" y="3840480"/>
            <a:ext cx="64008" cy="10972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1645920" y="3950208"/>
            <a:ext cx="5852160" cy="53035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1645920" y="3950208"/>
            <a:ext cx="54864" cy="5303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7360" y="4014216"/>
            <a:ext cx="402336" cy="40233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240280" y="395020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5440680" y="39502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Loop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274320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640080" cy="640080"/>
          </a:xfrm>
          <a:prstGeom prst="ellipse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051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148132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JS Dashboard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54680" y="822960"/>
            <a:ext cx="274320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154680" y="822960"/>
            <a:ext cx="2743200" cy="64008"/>
          </a:xfrm>
          <a:prstGeom prst="rect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337560" y="1097280"/>
            <a:ext cx="640080" cy="640080"/>
          </a:xfrm>
          <a:prstGeom prst="ellipse">
            <a:avLst/>
          </a:prstGeom>
          <a:solidFill>
            <a:srgbClr val="7B61FF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09728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14800" y="1051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114800" y="148132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822960"/>
            <a:ext cx="274320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126480" y="822960"/>
            <a:ext cx="2743200" cy="640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309360" y="1097280"/>
            <a:ext cx="640080" cy="64008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09728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86600" y="1051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086600" y="148132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metrics collection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82880" y="2788920"/>
            <a:ext cx="274320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82880" y="2788920"/>
            <a:ext cx="2743200" cy="640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65760" y="3063240"/>
            <a:ext cx="640080" cy="640080"/>
          </a:xfrm>
          <a:prstGeom prst="ellipse">
            <a:avLst/>
          </a:prstGeom>
          <a:solidFill>
            <a:srgbClr val="F4A261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063240"/>
            <a:ext cx="640080" cy="6400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430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43000" y="344728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(Local)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(Cloud)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154680" y="2788920"/>
            <a:ext cx="274320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154680" y="2788920"/>
            <a:ext cx="2743200" cy="6400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3337560" y="3063240"/>
            <a:ext cx="640080" cy="640080"/>
          </a:xfrm>
          <a:prstGeom prst="ellipse">
            <a:avLst/>
          </a:prstGeom>
          <a:solidFill>
            <a:srgbClr val="E63946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063240"/>
            <a:ext cx="640080" cy="6400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1148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Layer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114800" y="344728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System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126480" y="2788920"/>
            <a:ext cx="274320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6126480" y="278892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0"/>
          <p:cNvSpPr/>
          <p:nvPr/>
        </p:nvSpPr>
        <p:spPr>
          <a:xfrm>
            <a:off x="6309360" y="3063240"/>
            <a:ext cx="640080" cy="640080"/>
          </a:xfrm>
          <a:prstGeom prst="ellipse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063240"/>
            <a:ext cx="640080" cy="6400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0866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7086600" y="344728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real-time graphs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0624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594360" cy="804672"/>
          </a:xfrm>
          <a:prstGeom prst="rect">
            <a:avLst/>
          </a:prstGeom>
          <a:solidFill>
            <a:srgbClr val="0E6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82296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005840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822960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system metrics using psutil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" y="1783080"/>
            <a:ext cx="420624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82880" y="1783080"/>
            <a:ext cx="594360" cy="804672"/>
          </a:xfrm>
          <a:prstGeom prst="rect">
            <a:avLst/>
          </a:prstGeom>
          <a:solidFill>
            <a:srgbClr val="0E6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82880" y="178308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965960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1783080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and processed data 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82880" y="2743200"/>
            <a:ext cx="420624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182880" y="2743200"/>
            <a:ext cx="594360" cy="804672"/>
          </a:xfrm>
          <a:prstGeom prst="rect">
            <a:avLst/>
          </a:prstGeom>
          <a:solidFill>
            <a:srgbClr val="0E6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182880" y="274320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926080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53312" y="2743200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Isolation Forest for anomaly detection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82880" y="3703320"/>
            <a:ext cx="420624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182880" y="3703320"/>
            <a:ext cx="594360" cy="804672"/>
          </a:xfrm>
          <a:prstGeom prst="rect">
            <a:avLst/>
          </a:prstGeom>
          <a:solidFill>
            <a:srgbClr val="0E6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182880" y="370332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886200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53312" y="3703320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Gemini API for intelligent reasoning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754880" y="822960"/>
            <a:ext cx="420624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4754880" y="822960"/>
            <a:ext cx="594360" cy="804672"/>
          </a:xfrm>
          <a:prstGeom prst="rect">
            <a:avLst/>
          </a:prstGeom>
          <a:solidFill>
            <a:srgbClr val="0E6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4754880" y="82296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3248" y="1005840"/>
            <a:ext cx="438912" cy="4389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925312" y="822960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hybrid AI decision logic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54880" y="1783080"/>
            <a:ext cx="420624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4754880" y="1783080"/>
            <a:ext cx="594360" cy="804672"/>
          </a:xfrm>
          <a:prstGeom prst="rect">
            <a:avLst/>
          </a:prstGeom>
          <a:solidFill>
            <a:srgbClr val="0E6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4754880" y="178308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3248" y="1965960"/>
            <a:ext cx="438912" cy="4389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925312" y="1783080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UI for visualization (Chart.js)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4754880" y="2743200"/>
            <a:ext cx="420624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28"/>
          <p:cNvSpPr/>
          <p:nvPr/>
        </p:nvSpPr>
        <p:spPr>
          <a:xfrm>
            <a:off x="4754880" y="2743200"/>
            <a:ext cx="594360" cy="804672"/>
          </a:xfrm>
          <a:prstGeom prst="rect">
            <a:avLst/>
          </a:prstGeom>
          <a:solidFill>
            <a:srgbClr val="0E6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29"/>
          <p:cNvSpPr/>
          <p:nvPr/>
        </p:nvSpPr>
        <p:spPr>
          <a:xfrm>
            <a:off x="4754880" y="274320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3248" y="2926080"/>
            <a:ext cx="438912" cy="43891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925312" y="2743200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anomaly detection using simulated load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SO FAR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425196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92608" y="969264"/>
            <a:ext cx="475488" cy="475488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969264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80467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Flask-based web application developed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804672"/>
            <a:ext cx="425196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818888" y="969264"/>
            <a:ext cx="475488" cy="475488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969264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80467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implemented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82880" y="1764792"/>
            <a:ext cx="425196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292608" y="1929384"/>
            <a:ext cx="475488" cy="475488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929384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176479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created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709160" y="1764792"/>
            <a:ext cx="425196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4818888" y="1929384"/>
            <a:ext cx="475488" cy="475488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929384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94960" y="176479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model integrated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182880" y="2724912"/>
            <a:ext cx="425196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292608" y="2889504"/>
            <a:ext cx="475488" cy="475488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889504"/>
            <a:ext cx="475488" cy="4754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680" y="272491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integrated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709160" y="2724912"/>
            <a:ext cx="425196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4818888" y="2889504"/>
            <a:ext cx="475488" cy="475488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889504"/>
            <a:ext cx="475488" cy="4754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94960" y="272491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matrix representation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182880" y="3685032"/>
            <a:ext cx="425196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292608" y="3849624"/>
            <a:ext cx="475488" cy="475488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849624"/>
            <a:ext cx="475488" cy="47548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68680" y="368503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 working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4709160" y="3685032"/>
            <a:ext cx="425196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5"/>
          <p:cNvSpPr/>
          <p:nvPr/>
        </p:nvSpPr>
        <p:spPr>
          <a:xfrm>
            <a:off x="4818888" y="3849624"/>
            <a:ext cx="475488" cy="475488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3849624"/>
            <a:ext cx="475488" cy="47548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394960" y="368503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  implemented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8046720" y="77724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28"/>
          <p:cNvSpPr/>
          <p:nvPr/>
        </p:nvSpPr>
        <p:spPr>
          <a:xfrm>
            <a:off x="8046720" y="8046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8046720" y="1234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822960"/>
            <a:ext cx="2029968" cy="17830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64592" y="822960"/>
            <a:ext cx="2029968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50392" y="1005840"/>
            <a:ext cx="594360" cy="59436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00584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1691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8600" y="210312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for portability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377440" y="822960"/>
            <a:ext cx="2029968" cy="17830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377440" y="822960"/>
            <a:ext cx="2029968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063240" y="1005840"/>
            <a:ext cx="594360" cy="59436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100584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41448" y="1691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441448" y="210312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Render production deployment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90288" y="822960"/>
            <a:ext cx="2029968" cy="17830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4590288" y="822960"/>
            <a:ext cx="2029968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5276088" y="1005840"/>
            <a:ext cx="594360" cy="59436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088" y="1005840"/>
            <a:ext cx="594360" cy="5943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54296" y="1691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654296" y="210312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NoSQL database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803136" y="822960"/>
            <a:ext cx="2029968" cy="17830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6803136" y="822960"/>
            <a:ext cx="2029968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7488936" y="1005840"/>
            <a:ext cx="594360" cy="59436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1005840"/>
            <a:ext cx="594360" cy="5943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67144" y="1691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Multi-system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867144" y="210312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cloud node monitoring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1104314" y="2788920"/>
            <a:ext cx="2251534" cy="165506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1104314" y="2788920"/>
            <a:ext cx="2251534" cy="54687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1" name="Shape 25"/>
          <p:cNvSpPr/>
          <p:nvPr/>
        </p:nvSpPr>
        <p:spPr>
          <a:xfrm>
            <a:off x="1828800" y="2971800"/>
            <a:ext cx="594360" cy="59436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2971800"/>
            <a:ext cx="594360" cy="5943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0120" y="3657600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960120" y="406908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anomalies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5265537" y="2900934"/>
            <a:ext cx="2142861" cy="159316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5276087" y="2832355"/>
            <a:ext cx="2132311" cy="54687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0"/>
          <p:cNvSpPr/>
          <p:nvPr/>
        </p:nvSpPr>
        <p:spPr>
          <a:xfrm>
            <a:off x="5913354" y="3035808"/>
            <a:ext cx="594360" cy="594360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3354" y="3049524"/>
            <a:ext cx="594360" cy="5943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012670" y="3657600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System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5085471" y="4041648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multi-user access control</a:t>
            </a:r>
            <a:endParaRPr lang="en-US" sz="950" dirty="0"/>
          </a:p>
        </p:txBody>
      </p:sp>
      <p:sp>
        <p:nvSpPr>
          <p:cNvPr id="45" name="Text 36"/>
          <p:cNvSpPr/>
          <p:nvPr/>
        </p:nvSpPr>
        <p:spPr>
          <a:xfrm>
            <a:off x="6995160" y="3657600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6995160" y="406908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3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868680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5720" cy="594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r>
              <a:rPr lang="en-IN" sz="1200" dirty="0">
                <a:solidFill>
                  <a:srgbClr val="1A1A2E"/>
                </a:solidFill>
              </a:rPr>
              <a:t>Praveen Kumar Thota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"AI-Driven Cloud Monitoring," IEEE TKDE.</a:t>
            </a:r>
          </a:p>
          <a:p>
            <a:r>
              <a:rPr lang="nn-NO" sz="1200" dirty="0">
                <a:solidFill>
                  <a:srgbClr val="1A1A2E"/>
                </a:solidFill>
              </a:rPr>
              <a:t> </a:t>
            </a:r>
            <a:r>
              <a:rPr lang="en-IN" sz="1200" dirty="0">
                <a:solidFill>
                  <a:srgbClr val="1A1A2E"/>
                </a:solidFill>
              </a:rPr>
              <a:t>https://doi.org/10.30574/wjarr.2025.26.1.1432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82880" y="1664208"/>
            <a:ext cx="868680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82880" y="1664208"/>
            <a:ext cx="45720" cy="594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Smith et al., "Cloud Monitoring Systems," Cloud Computing Journal.</a:t>
            </a:r>
          </a:p>
          <a:p>
            <a:r>
              <a:rPr lang="fr-FR" sz="1200" dirty="0">
                <a:solidFill>
                  <a:srgbClr val="1A1A2E"/>
                </a:solidFill>
              </a:rPr>
              <a:t>https://doi.org/10.18280/isi.240608 ABSTRACT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2774" y="2404872"/>
            <a:ext cx="868680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82880" y="2414016"/>
            <a:ext cx="45720" cy="594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41401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Kumar et al., "AIOps Systems for DevOps Automation".</a:t>
            </a:r>
          </a:p>
          <a:p>
            <a:r>
              <a:rPr lang="en-IN" sz="1200" dirty="0">
                <a:solidFill>
                  <a:srgbClr val="1A1A2E"/>
                </a:solidFill>
              </a:rPr>
              <a:t>https://doi.org/10.55454/rcsas.5.04.2025.002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82880" y="3163824"/>
            <a:ext cx="868680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82880" y="3163824"/>
            <a:ext cx="45720" cy="594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3163824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</a:t>
            </a:r>
            <a:r>
              <a:rPr lang="en-US" sz="1150" dirty="0">
                <a:solidFill>
                  <a:srgbClr val="1A1A2E"/>
                </a:solidFill>
              </a:rPr>
              <a:t>Generalized isolation forest for anomaly detection</a:t>
            </a:r>
          </a:p>
          <a:p>
            <a:r>
              <a:rPr lang="en-IN" sz="1150" dirty="0">
                <a:solidFill>
                  <a:srgbClr val="1A1A2E"/>
                </a:solidFill>
                <a:hlinkClick r:id="rId3" tooltip="Persistent link using digital object identifi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https://doi.org/10.1016/j.patrec.2021.05.022</a:t>
            </a:r>
            <a:endParaRPr lang="en-US" sz="1150" dirty="0">
              <a:solidFill>
                <a:schemeClr val="bg1"/>
              </a:solidFill>
            </a:endParaRPr>
          </a:p>
          <a:p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9136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AI-Based Cloud Monitoring System  •  DSU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" y="-32004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594360"/>
            <a:ext cx="1463040" cy="14630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594360"/>
            <a:ext cx="1463040" cy="1463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148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0" name="Shape 6"/>
          <p:cNvSpPr/>
          <p:nvPr/>
        </p:nvSpPr>
        <p:spPr>
          <a:xfrm>
            <a:off x="3200400" y="3108960"/>
            <a:ext cx="27432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914400" y="3246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25196" y="3154680"/>
            <a:ext cx="8229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Cloud Monitoring System Using Hybrid AIOps 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1037</Words>
  <Application>Microsoft Office PowerPoint</Application>
  <PresentationFormat>On-screen Show (16:9)</PresentationFormat>
  <Paragraphs>276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Cambria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Cloud Monitoring System</dc:title>
  <dc:subject>PptxGenJS Presentation</dc:subject>
  <dc:creator>PptxGenJS</dc:creator>
  <cp:lastModifiedBy>Abhishek jp</cp:lastModifiedBy>
  <cp:revision>10</cp:revision>
  <dcterms:created xsi:type="dcterms:W3CDTF">2026-03-23T13:45:00Z</dcterms:created>
  <dcterms:modified xsi:type="dcterms:W3CDTF">2026-03-24T06:55:19Z</dcterms:modified>
</cp:coreProperties>
</file>